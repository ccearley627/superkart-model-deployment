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80ce7c5d8a488b" /><Relationship Type="http://schemas.openxmlformats.org/officeDocument/2006/relationships/extended-properties" Target="/docProps/app.xml" Id="R2ac5991f8cf64d26" /><Relationship Type="http://schemas.openxmlformats.org/officeDocument/2006/relationships/officeDocument" Target="/ppt/presentation.xml" Id="R8db5366d806a4ab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f72d07aa6ec4556"/>
    <p:sldMasterId xmlns:r="http://schemas.openxmlformats.org/officeDocument/2006/relationships" id="2147483659" r:id="R80d7e4ddb76442db"/>
  </p:sldMasterIdLst>
  <p:notesMasterIdLst>
    <p:notesMasterId xmlns:r="http://schemas.openxmlformats.org/officeDocument/2006/relationships" r:id="Rb11756c3e03f44ea"/>
  </p:notesMasterIdLst>
  <p:sldIdLst>
    <p:sldId xmlns:r="http://schemas.openxmlformats.org/officeDocument/2006/relationships" id="256" r:id="R3a7e39032b174fa6"/>
    <p:sldId xmlns:r="http://schemas.openxmlformats.org/officeDocument/2006/relationships" id="257" r:id="R26e8dfc9abff43b0"/>
    <p:sldId xmlns:r="http://schemas.openxmlformats.org/officeDocument/2006/relationships" id="258" r:id="Rcaa70ebdfeda4251"/>
    <p:sldId xmlns:r="http://schemas.openxmlformats.org/officeDocument/2006/relationships" id="259" r:id="Rc63f75f054604219"/>
    <p:sldId xmlns:r="http://schemas.openxmlformats.org/officeDocument/2006/relationships" id="260" r:id="Re81ff7c8fcd548e1"/>
    <p:sldId xmlns:r="http://schemas.openxmlformats.org/officeDocument/2006/relationships" id="261" r:id="R1f9bbf08be084955"/>
    <p:sldId xmlns:r="http://schemas.openxmlformats.org/officeDocument/2006/relationships" id="262" r:id="R08849da4404647dd"/>
    <p:sldId xmlns:r="http://schemas.openxmlformats.org/officeDocument/2006/relationships" id="263" r:id="R7d39a39a42e54c43"/>
    <p:sldId xmlns:r="http://schemas.openxmlformats.org/officeDocument/2006/relationships" id="264" r:id="R02ed90680573465a"/>
    <p:sldId xmlns:r="http://schemas.openxmlformats.org/officeDocument/2006/relationships" id="265" r:id="R7208b295caed4419"/>
    <p:sldId xmlns:r="http://schemas.openxmlformats.org/officeDocument/2006/relationships" id="266" r:id="R9d026e9a7b044117"/>
    <p:sldId xmlns:r="http://schemas.openxmlformats.org/officeDocument/2006/relationships" id="267" r:id="Re74e70a207544b59"/>
    <p:sldId xmlns:r="http://schemas.openxmlformats.org/officeDocument/2006/relationships" id="268" r:id="Rd6b6377f5ff64473"/>
    <p:sldId xmlns:r="http://schemas.openxmlformats.org/officeDocument/2006/relationships" id="269" r:id="R3bc79c044e7a4c93"/>
  </p:sldIdLst>
  <p:sldSz cx="9144000" cy="5143500"/>
  <p:notesSz cx="6858000" cy="9144000"/>
  <p:embeddedFontLst>
    <p:embeddedFont>
      <p:font typeface="Nunito SemiBold"/>
      <p:regular xmlns:r="http://schemas.openxmlformats.org/officeDocument/2006/relationships" r:id="R11e4b11740a54ea0"/>
      <p:bold xmlns:r="http://schemas.openxmlformats.org/officeDocument/2006/relationships" r:id="R4944818063c94603"/>
      <p:italic xmlns:r="http://schemas.openxmlformats.org/officeDocument/2006/relationships" r:id="R76f6e454b9c647bc"/>
      <p:boldItalic xmlns:r="http://schemas.openxmlformats.org/officeDocument/2006/relationships" r:id="Ra847a1e0259e48db"/>
    </p:embeddedFont>
    <p:embeddedFont>
      <p:font typeface="Nunito"/>
      <p:regular xmlns:r="http://schemas.openxmlformats.org/officeDocument/2006/relationships" r:id="Rdc0ec033fe654082"/>
      <p:bold xmlns:r="http://schemas.openxmlformats.org/officeDocument/2006/relationships" r:id="R86112c1cd62b4af3"/>
      <p:italic xmlns:r="http://schemas.openxmlformats.org/officeDocument/2006/relationships" r:id="Rdaa4b443881148e6"/>
      <p:boldItalic xmlns:r="http://schemas.openxmlformats.org/officeDocument/2006/relationships" r:id="R44bafb3c60844721"/>
    </p:embeddedFont>
    <p:embeddedFont>
      <p:font typeface="Nunito ExtraBold"/>
      <p:bold xmlns:r="http://schemas.openxmlformats.org/officeDocument/2006/relationships" r:id="Rffc5c2c7f0bb426e"/>
      <p:boldItalic xmlns:r="http://schemas.openxmlformats.org/officeDocument/2006/relationships" r:id="Rd52dda990902474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1C3A4180-C8D0-4D22-BC6A-0C75D2CE7770}">
  <a:tblStyle styleId="{1C3A4180-C8D0-4D22-BC6A-0C75D2CE777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7131ba9da4b55" /><Relationship Type="http://schemas.openxmlformats.org/officeDocument/2006/relationships/slideMaster" Target="/ppt/slideMasters/slideMaster1.xml" Id="R1f72d07aa6ec4556" /><Relationship Type="http://schemas.openxmlformats.org/officeDocument/2006/relationships/slideMaster" Target="/ppt/slideMasters/slideMaster2.xml" Id="R80d7e4ddb76442db" /><Relationship Type="http://schemas.openxmlformats.org/officeDocument/2006/relationships/notesMaster" Target="/ppt/notesMasters/notesMaster1.xml" Id="Rb11756c3e03f44ea" /><Relationship Type="http://schemas.openxmlformats.org/officeDocument/2006/relationships/presProps" Target="/ppt/presProps.xml" Id="R946bb0aa9d26453c" /><Relationship Type="http://schemas.openxmlformats.org/officeDocument/2006/relationships/viewProps" Target="/ppt/viewProps.xml" Id="R3988ecc157454510" /><Relationship Type="http://schemas.openxmlformats.org/officeDocument/2006/relationships/tableStyles" Target="/ppt/tableStyles.xml" Id="Re7a981b7f825465e" /><Relationship Type="http://schemas.openxmlformats.org/officeDocument/2006/relationships/font" Target="/ppt/fonts/font.dat" Id="R11e4b11740a54ea0" /><Relationship Type="http://schemas.openxmlformats.org/officeDocument/2006/relationships/font" Target="/ppt/fonts/font2.dat" Id="R4944818063c94603" /><Relationship Type="http://schemas.openxmlformats.org/officeDocument/2006/relationships/font" Target="/ppt/fonts/font3.dat" Id="R76f6e454b9c647bc" /><Relationship Type="http://schemas.openxmlformats.org/officeDocument/2006/relationships/font" Target="/ppt/fonts/font4.dat" Id="Ra847a1e0259e48db" /><Relationship Type="http://schemas.openxmlformats.org/officeDocument/2006/relationships/font" Target="/ppt/fonts/font5.dat" Id="Rdc0ec033fe654082" /><Relationship Type="http://schemas.openxmlformats.org/officeDocument/2006/relationships/font" Target="/ppt/fonts/font6.dat" Id="R86112c1cd62b4af3" /><Relationship Type="http://schemas.openxmlformats.org/officeDocument/2006/relationships/font" Target="/ppt/fonts/font7.dat" Id="Rdaa4b443881148e6" /><Relationship Type="http://schemas.openxmlformats.org/officeDocument/2006/relationships/font" Target="/ppt/fonts/font8.dat" Id="R44bafb3c60844721" /><Relationship Type="http://schemas.openxmlformats.org/officeDocument/2006/relationships/font" Target="/ppt/fonts/font9.dat" Id="Rffc5c2c7f0bb426e" /><Relationship Type="http://schemas.openxmlformats.org/officeDocument/2006/relationships/font" Target="/ppt/fonts/font10.dat" Id="Rd52dda9909024741" /><Relationship Type="http://schemas.openxmlformats.org/officeDocument/2006/relationships/slide" Target="/ppt/slides/slide1.xml" Id="R3a7e39032b174fa6" /><Relationship Type="http://schemas.openxmlformats.org/officeDocument/2006/relationships/slide" Target="/ppt/slides/slide2.xml" Id="R26e8dfc9abff43b0" /><Relationship Type="http://schemas.openxmlformats.org/officeDocument/2006/relationships/slide" Target="/ppt/slides/slide3.xml" Id="Rcaa70ebdfeda4251" /><Relationship Type="http://schemas.openxmlformats.org/officeDocument/2006/relationships/slide" Target="/ppt/slides/slide4.xml" Id="Rc63f75f054604219" /><Relationship Type="http://schemas.openxmlformats.org/officeDocument/2006/relationships/slide" Target="/ppt/slides/slide5.xml" Id="Re81ff7c8fcd548e1" /><Relationship Type="http://schemas.openxmlformats.org/officeDocument/2006/relationships/slide" Target="/ppt/slides/slide6.xml" Id="R1f9bbf08be084955" /><Relationship Type="http://schemas.openxmlformats.org/officeDocument/2006/relationships/slide" Target="/ppt/slides/slide7.xml" Id="R08849da4404647dd" /><Relationship Type="http://schemas.openxmlformats.org/officeDocument/2006/relationships/slide" Target="/ppt/slides/slide8.xml" Id="R7d39a39a42e54c43" /><Relationship Type="http://schemas.openxmlformats.org/officeDocument/2006/relationships/slide" Target="/ppt/slides/slide9.xml" Id="R02ed90680573465a" /><Relationship Type="http://schemas.openxmlformats.org/officeDocument/2006/relationships/slide" Target="/ppt/slides/slide10.xml" Id="R7208b295caed4419" /><Relationship Type="http://schemas.openxmlformats.org/officeDocument/2006/relationships/slide" Target="/ppt/slides/slide11.xml" Id="R9d026e9a7b044117" /><Relationship Type="http://schemas.openxmlformats.org/officeDocument/2006/relationships/slide" Target="/ppt/slides/slide12.xml" Id="Re74e70a207544b59" /><Relationship Type="http://schemas.openxmlformats.org/officeDocument/2006/relationships/slide" Target="/ppt/slides/slide13.xml" Id="Rd6b6377f5ff64473" /><Relationship Type="http://schemas.openxmlformats.org/officeDocument/2006/relationships/slide" Target="/ppt/slides/slide14.xml" Id="R3bc79c044e7a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0cd429e3497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87a1bb89c54e3a" /><Relationship Type="http://schemas.openxmlformats.org/officeDocument/2006/relationships/notesMaster" Target="/ppt/notesMasters/notesMaster1.xml" Id="R410905f1cc5a49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602ca4a9c44f64" /><Relationship Type="http://schemas.openxmlformats.org/officeDocument/2006/relationships/notesMaster" Target="/ppt/notesMasters/notesMaster1.xml" Id="Re68f5ef3fd81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b09b238504755" /><Relationship Type="http://schemas.openxmlformats.org/officeDocument/2006/relationships/notesMaster" Target="/ppt/notesMasters/notesMaster1.xml" Id="Rd5c508e511bf42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c27b175514ad7" /><Relationship Type="http://schemas.openxmlformats.org/officeDocument/2006/relationships/notesMaster" Target="/ppt/notesMasters/notesMaster1.xml" Id="Rb1ecaba88a2f40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ecbdf7e05a480a" /><Relationship Type="http://schemas.openxmlformats.org/officeDocument/2006/relationships/notesMaster" Target="/ppt/notesMasters/notesMaster1.xml" Id="R36b87190159e4f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6ae1803b324b0a" /><Relationship Type="http://schemas.openxmlformats.org/officeDocument/2006/relationships/notesMaster" Target="/ppt/notesMasters/notesMaster1.xml" Id="R3b4f061d1aa649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0803909c741f8" /><Relationship Type="http://schemas.openxmlformats.org/officeDocument/2006/relationships/notesMaster" Target="/ppt/notesMasters/notesMaster1.xml" Id="R17ce8693139e45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39e1bb5954d6b" /><Relationship Type="http://schemas.openxmlformats.org/officeDocument/2006/relationships/notesMaster" Target="/ppt/notesMasters/notesMaster1.xml" Id="R5316b1fd7d5744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d70a7120084b96" /><Relationship Type="http://schemas.openxmlformats.org/officeDocument/2006/relationships/notesMaster" Target="/ppt/notesMasters/notesMaster1.xml" Id="R71fee621b29540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98086a7b654042" /><Relationship Type="http://schemas.openxmlformats.org/officeDocument/2006/relationships/notesMaster" Target="/ppt/notesMasters/notesMaster1.xml" Id="R9e41a2816d824c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35bd7e7d084b80" /><Relationship Type="http://schemas.openxmlformats.org/officeDocument/2006/relationships/notesMaster" Target="/ppt/notesMasters/notesMaster1.xml" Id="R193ae01d79e547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96cb48faf14d5c" /><Relationship Type="http://schemas.openxmlformats.org/officeDocument/2006/relationships/notesMaster" Target="/ppt/notesMasters/notesMaster1.xml" Id="R36e5312cdb2949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7d968066b34f5c" /><Relationship Type="http://schemas.openxmlformats.org/officeDocument/2006/relationships/notesMaster" Target="/ppt/notesMasters/notesMaster1.xml" Id="Rd361c31254264b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08e098ee31476c" /><Relationship Type="http://schemas.openxmlformats.org/officeDocument/2006/relationships/notesMaster" Target="/ppt/notesMasters/notesMaster1.xml" Id="R2705d31840a9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SuperKart.csv and the executed low-code project notebook.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Metrics come from the 30% holdout test set. Currency symbol follows the supplied Streamlit 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SuperKart.csv. Store averages are calculated from Product_Store_Sales_Total.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Local validation used Flask's test client. A public Codespaces URL requires the learner's GitHub account and must be inserted before final submission.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Feature importance values come from the tuned Random Forest model fitted on the training set.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f6240ed6a4a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14c0755624b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57092a7fa45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e786a90c14f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c6b467d3d4f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7b230c64248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0aeadcc124a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92286347045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22a6c7d2444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ecd69b3bd4e87" /><Relationship Type="http://schemas.openxmlformats.org/officeDocument/2006/relationships/image" Target="/ppt/media/image2.png" Id="R0ff4a62c75064aa1" /><Relationship Type="http://schemas.openxmlformats.org/officeDocument/2006/relationships/image" Target="/ppt/media/image3.png" Id="R26386a19a1c941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c8165b4ca145f4" /><Relationship Type="http://schemas.openxmlformats.org/officeDocument/2006/relationships/image" Target="/ppt/media/image2.png" Id="Rf380d5e57400498a" /><Relationship Type="http://schemas.openxmlformats.org/officeDocument/2006/relationships/image" Target="/ppt/media/image4.png" Id="Rde964313e40f4f0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7067f8d3274e0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1d40a108ae46c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2cd65b14f0481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1dddcf5be44b9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26b90523d540e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008472a996472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acb63470ca469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ba6a8ad2ee418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b4d39bb356402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C94153E6-E5BF-46AC-8C06-338F61A8414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10208" y="744575"/>
            <a:ext cx="66222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CC08B4B9-3F75-4ABE-AABF-AD7A784E7E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10202" y="2834125"/>
            <a:ext cx="66222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3DA3173-AA3E-492D-B261-543BBD220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D1AD1750-4D85-435E-AA5A-B4F961BC98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B46F870-387A-4E7F-8228-6BB16600C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7BF77F01-7ADE-4955-8E83-D7ECF55D1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4B86E605-0BBE-4B72-B00B-B488963BF9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able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31E5EAAB-0CF0-4796-892C-D6C60E32D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graphicFrame>
        <p:nvGraphicFramePr>
          <p:cNvPr id="30" name="Google Shape;26;p5"/>
          <p:cNvGraphicFramePr/>
          <p:nvPr/>
        </p:nvGraphicFramePr>
        <p:xfrm>
          <a:off xmlns:a="http://schemas.openxmlformats.org/drawingml/2006/main" x="201942" y="83366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{1C3A4180-C8D0-4D22-BC6A-0C75D2CE7770}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 Profile 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Business Insights for Marketing Team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1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High value customers who have many credit cards and prefer to engage online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Engage Online – Set up priority calling in lines – Upsell and Cross sell premium products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2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..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3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8F220987-6759-49C4-99CB-7528C2902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0FC2F4B3-B3EE-465E-92B4-0EAB12BBB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973D0E79-3897-42C8-8727-6158C7A2E4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51D1FF8D-B7B4-454B-81C8-61D2F6BDD5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7CC5D26B-56FE-4388-82E5-EEE5BC533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7">
            <a:extLst xmlns:a="http://schemas.openxmlformats.org/drawingml/2006/main">
              <a:ext uri="{FF2B5EF4-FFF2-40B4-BE49-F238E27FC236}">
                <a16:creationId xmlns:a16="http://schemas.microsoft.com/office/drawing/2014/main" id="{6296F6BB-8F7E-46EF-99A0-2177C3F21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757B5CA7-D33D-4956-B90C-6E4281767B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8">
            <a:extLst xmlns:a="http://schemas.openxmlformats.org/drawingml/2006/main">
              <a:ext uri="{FF2B5EF4-FFF2-40B4-BE49-F238E27FC236}">
                <a16:creationId xmlns:a16="http://schemas.microsoft.com/office/drawing/2014/main" id="{40130EDC-8A29-4EFD-A137-C717FA3C6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8" name="Google Shape;38;p8">
            <a:extLst xmlns:a="http://schemas.openxmlformats.org/drawingml/2006/main">
              <a:ext uri="{FF2B5EF4-FFF2-40B4-BE49-F238E27FC236}">
                <a16:creationId xmlns:a16="http://schemas.microsoft.com/office/drawing/2014/main" id="{84F10079-B780-4F52-A513-EE95E5319C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C803FAF2-206B-40B6-84CB-2B3F2E3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E61AB564-D029-4EA0-9DE1-652B10345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37F75CD2-004D-4021-896C-E3BDDF0BAE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498464C3-6125-465A-AF69-E7DD3DB979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4" name="Google Shape;44;p9">
            <a:extLst xmlns:a="http://schemas.openxmlformats.org/drawingml/2006/main">
              <a:ext uri="{FF2B5EF4-FFF2-40B4-BE49-F238E27FC236}">
                <a16:creationId xmlns:a16="http://schemas.microsoft.com/office/drawing/2014/main" id="{69429116-65C2-46AF-B12B-8124E49232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10">
            <a:extLst xmlns:a="http://schemas.openxmlformats.org/drawingml/2006/main">
              <a:ext uri="{FF2B5EF4-FFF2-40B4-BE49-F238E27FC236}">
                <a16:creationId xmlns:a16="http://schemas.microsoft.com/office/drawing/2014/main" id="{A91637AE-08DB-48C2-9EFD-EE4F6D6B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90A653C4-ECD5-47D7-9E0F-D53EB60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335"/>
            <a:ext cx="9144600" cy="514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5" name="Google Shape;4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f4a62c75064aa1">
            <a:alphaModFix/>
          </a:blip>
          <a:srcRect xmlns:a="http://schemas.openxmlformats.org/drawingml/2006/main" l="42816" t="18358" r="37294" b="19149"/>
          <a:stretch xmlns:a="http://schemas.openxmlformats.org/drawingml/2006/main"/>
        </p:blipFill>
        <p:spPr>
          <a:xfrm xmlns:a="http://schemas.openxmlformats.org/drawingml/2006/main">
            <a:off x="6052536" y="514443"/>
            <a:ext cx="2095112" cy="3703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" name="Google Shape;50;p11">
            <a:extLst xmlns:a="http://schemas.openxmlformats.org/drawingml/2006/main">
              <a:ext uri="{FF2B5EF4-FFF2-40B4-BE49-F238E27FC236}">
                <a16:creationId xmlns:a16="http://schemas.microsoft.com/office/drawing/2014/main" id="{8A0D0A6D-4A12-412D-82C4-48473A5DB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129" y="6703219"/>
            <a:ext cx="15008700" cy="6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85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1" name="Google Shape;51;p11">
            <a:extLst xmlns:a="http://schemas.openxmlformats.org/drawingml/2006/main">
              <a:ext uri="{FF2B5EF4-FFF2-40B4-BE49-F238E27FC236}">
                <a16:creationId xmlns:a16="http://schemas.microsoft.com/office/drawing/2014/main" id="{00EB5168-0162-4400-A869-55FB238A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" y="1676232"/>
            <a:ext cx="43728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sz="3300" b="0" i="0" u="non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</a:rPr>
              <a:t>Happy Learning !</a:t>
            </a:r>
            <a:endParaRPr sz="3300" b="0" i="0" u="none" cap="none">
              <a:solidFill>
                <a:schemeClr val="lt1"/>
              </a:solidFill>
              <a:latin typeface="Nunito ExtraBold"/>
              <a:ea typeface="Nunito ExtraBold"/>
              <a:cs typeface="Nunito ExtraBold"/>
            </a:endParaRPr>
          </a:p>
        </p:txBody>
      </p:sp>
      <p:pic>
        <p:nvPicPr>
          <p:cNvPr id="58" name="Google Shape;5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386a19a1c941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5874" y="683275"/>
            <a:ext cx="3757725" cy="825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B2C02A35-EF0B-421B-AA88-F5192B78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335"/>
            <a:ext cx="9144600" cy="514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0" name="Google Shape;6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80d5e57400498a">
            <a:alphaModFix/>
          </a:blip>
          <a:srcRect xmlns:a="http://schemas.openxmlformats.org/drawingml/2006/main" l="42816" t="18358" r="37294" b="19149"/>
          <a:stretch xmlns:a="http://schemas.openxmlformats.org/drawingml/2006/main"/>
        </p:blipFill>
        <p:spPr>
          <a:xfrm xmlns:a="http://schemas.openxmlformats.org/drawingml/2006/main">
            <a:off x="6052536" y="514443"/>
            <a:ext cx="2095112" cy="3703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C5FF1841-57B7-4CD7-99BF-3E7AC9BDE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129" y="6703219"/>
            <a:ext cx="15008700" cy="6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85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E1E1527B-A233-42D3-8846-2F5A1CF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" y="1676232"/>
            <a:ext cx="43728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sz="3300" b="0" i="0" u="non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</a:rPr>
              <a:t>Happy Learning !</a:t>
            </a:r>
            <a:endParaRPr sz="3300" b="0" i="0" u="none" cap="none">
              <a:solidFill>
                <a:schemeClr val="lt1"/>
              </a:solidFill>
              <a:latin typeface="Nunito ExtraBold"/>
              <a:ea typeface="Nunito ExtraBold"/>
              <a:cs typeface="Nunito ExtraBold"/>
            </a:endParaRPr>
          </a:p>
        </p:txBody>
      </p:sp>
      <p:pic>
        <p:nvPicPr>
          <p:cNvPr id="73" name="Google Shape;67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964313e40f4f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1875" y="769949"/>
            <a:ext cx="3071452" cy="1261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4">
            <a:extLst xmlns:a="http://schemas.openxmlformats.org/drawingml/2006/main">
              <a:ext uri="{FF2B5EF4-FFF2-40B4-BE49-F238E27FC236}">
                <a16:creationId xmlns:a16="http://schemas.microsoft.com/office/drawing/2014/main" id="{0725255C-D0DA-43A4-BB09-7DB1819309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10208" y="744575"/>
            <a:ext cx="66222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70" name="Google Shape;70;p14">
            <a:extLst xmlns:a="http://schemas.openxmlformats.org/drawingml/2006/main">
              <a:ext uri="{FF2B5EF4-FFF2-40B4-BE49-F238E27FC236}">
                <a16:creationId xmlns:a16="http://schemas.microsoft.com/office/drawing/2014/main" id="{FE217342-9B14-4B72-AFAF-B788BF4264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10202" y="2834125"/>
            <a:ext cx="66222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49613E3C-AA64-44AD-B0B2-9B3E46FF9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A47323EC-F051-439B-B5F0-C81570365B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EF61C991-2A54-4FB2-919D-7EA258B74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0C79136F-5E64-45B0-A1D3-ADFDB985A1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E85BD694-543C-4A4C-BAC7-88CA77BA56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able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7">
            <a:extLst xmlns:a="http://schemas.openxmlformats.org/drawingml/2006/main">
              <a:ext uri="{FF2B5EF4-FFF2-40B4-BE49-F238E27FC236}">
                <a16:creationId xmlns:a16="http://schemas.microsoft.com/office/drawing/2014/main" id="{0F115BF9-3BAA-4197-B27F-D57FCE1EC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graphicFrame>
        <p:nvGraphicFramePr>
          <p:cNvPr id="84" name="Google Shape;80;p17"/>
          <p:cNvGraphicFramePr/>
          <p:nvPr/>
        </p:nvGraphicFramePr>
        <p:xfrm>
          <a:off xmlns:a="http://schemas.openxmlformats.org/drawingml/2006/main" x="201942" y="83366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{1C3A4180-C8D0-4D22-BC6A-0C75D2CE7770}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 Profile 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Business Insights for Marketing Team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1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High value customers who have many credit cards and prefer to engage online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Engage Online – Set up priority calling in lines – Upsell and Cross sell premium products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2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..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3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B48BEE18-D8E7-4B0B-9D23-13798DB68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5AB49E0B-1D73-4EE9-970D-EC264A814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0CA4F5FD-49E0-4D55-ABD6-7062715CA7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5" name="Google Shape;85;p18">
            <a:extLst xmlns:a="http://schemas.openxmlformats.org/drawingml/2006/main">
              <a:ext uri="{FF2B5EF4-FFF2-40B4-BE49-F238E27FC236}">
                <a16:creationId xmlns:a16="http://schemas.microsoft.com/office/drawing/2014/main" id="{195FCA1D-213B-452C-960A-44276AF49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6" name="Google Shape;86;p18">
            <a:extLst xmlns:a="http://schemas.openxmlformats.org/drawingml/2006/main">
              <a:ext uri="{FF2B5EF4-FFF2-40B4-BE49-F238E27FC236}">
                <a16:creationId xmlns:a16="http://schemas.microsoft.com/office/drawing/2014/main" id="{02BC83BF-FFA0-4471-B61B-AB02DAFCD9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ED0E5538-0EF7-4442-9D4E-1507BA034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2C531148-E7F3-4BD6-A016-FA9DBF2E17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20">
            <a:extLst xmlns:a="http://schemas.openxmlformats.org/drawingml/2006/main">
              <a:ext uri="{FF2B5EF4-FFF2-40B4-BE49-F238E27FC236}">
                <a16:creationId xmlns:a16="http://schemas.microsoft.com/office/drawing/2014/main" id="{A0200CC4-0F53-4AC9-BA5B-9529E400E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92" name="Google Shape;92;p20">
            <a:extLst xmlns:a="http://schemas.openxmlformats.org/drawingml/2006/main">
              <a:ext uri="{FF2B5EF4-FFF2-40B4-BE49-F238E27FC236}">
                <a16:creationId xmlns:a16="http://schemas.microsoft.com/office/drawing/2014/main" id="{41685773-847E-412C-8BCE-638CD99D2F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21">
            <a:extLst xmlns:a="http://schemas.openxmlformats.org/drawingml/2006/main">
              <a:ext uri="{FF2B5EF4-FFF2-40B4-BE49-F238E27FC236}">
                <a16:creationId xmlns:a16="http://schemas.microsoft.com/office/drawing/2014/main" id="{8875DF66-85C4-4F67-A973-621163E8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oogle Shape;95;p21">
            <a:extLst xmlns:a="http://schemas.openxmlformats.org/drawingml/2006/main">
              <a:ext uri="{FF2B5EF4-FFF2-40B4-BE49-F238E27FC236}">
                <a16:creationId xmlns:a16="http://schemas.microsoft.com/office/drawing/2014/main" id="{A2D46B4B-2930-473F-81D2-986263EFD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96" name="Google Shape;96;p21">
            <a:extLst xmlns:a="http://schemas.openxmlformats.org/drawingml/2006/main">
              <a:ext uri="{FF2B5EF4-FFF2-40B4-BE49-F238E27FC236}">
                <a16:creationId xmlns:a16="http://schemas.microsoft.com/office/drawing/2014/main" id="{4721E587-207A-44C0-BE91-A5B37FA39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97" name="Google Shape;97;p21">
            <a:extLst xmlns:a="http://schemas.openxmlformats.org/drawingml/2006/main">
              <a:ext uri="{FF2B5EF4-FFF2-40B4-BE49-F238E27FC236}">
                <a16:creationId xmlns:a16="http://schemas.microsoft.com/office/drawing/2014/main" id="{C73B339D-52C5-4AE6-AA7E-310DC4F7ED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8" name="Google Shape;98;p21">
            <a:extLst xmlns:a="http://schemas.openxmlformats.org/drawingml/2006/main">
              <a:ext uri="{FF2B5EF4-FFF2-40B4-BE49-F238E27FC236}">
                <a16:creationId xmlns:a16="http://schemas.microsoft.com/office/drawing/2014/main" id="{1E928D5B-B987-49EE-94F7-EF6636509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2">
            <a:extLst xmlns:a="http://schemas.openxmlformats.org/drawingml/2006/main">
              <a:ext uri="{FF2B5EF4-FFF2-40B4-BE49-F238E27FC236}">
                <a16:creationId xmlns:a16="http://schemas.microsoft.com/office/drawing/2014/main" id="{278BC61F-6295-4F12-8B81-4F3F37B9C1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b6f3220bfd0447d" /><Relationship Type="http://schemas.openxmlformats.org/officeDocument/2006/relationships/theme" Target="/ppt/slideMasters/theme/theme2.xml" Id="R4fcc990e2e06422b" /><Relationship Type="http://schemas.openxmlformats.org/officeDocument/2006/relationships/slideLayout" Target="/ppt/slideLayouts/slideLayout1.xml" Id="R0a15e9ebcc8f41a7" /><Relationship Type="http://schemas.openxmlformats.org/officeDocument/2006/relationships/slideLayout" Target="/ppt/slideLayouts/slideLayout2.xml" Id="R017f658bda844028" /><Relationship Type="http://schemas.openxmlformats.org/officeDocument/2006/relationships/slideLayout" Target="/ppt/slideLayouts/slideLayout3.xml" Id="Rc411185c26e14b59" /><Relationship Type="http://schemas.openxmlformats.org/officeDocument/2006/relationships/slideLayout" Target="/ppt/slideLayouts/slideLayout4.xml" Id="Re90fc4403b8b4985" /><Relationship Type="http://schemas.openxmlformats.org/officeDocument/2006/relationships/slideLayout" Target="/ppt/slideLayouts/slideLayout5.xml" Id="R2bfc9fc646f44a73" /><Relationship Type="http://schemas.openxmlformats.org/officeDocument/2006/relationships/slideLayout" Target="/ppt/slideLayouts/slideLayout6.xml" Id="R023be2fd125643a2" /><Relationship Type="http://schemas.openxmlformats.org/officeDocument/2006/relationships/slideLayout" Target="/ppt/slideLayouts/slideLayout7.xml" Id="Rcef1cf980fd24645" /><Relationship Type="http://schemas.openxmlformats.org/officeDocument/2006/relationships/slideLayout" Target="/ppt/slideLayouts/slideLayout8.xml" Id="R0b719dda66e54ea9" /><Relationship Type="http://schemas.openxmlformats.org/officeDocument/2006/relationships/slideLayout" Target="/ppt/slideLayouts/slideLayout9.xml" Id="R2f9138277eb34651" /><Relationship Type="http://schemas.openxmlformats.org/officeDocument/2006/relationships/slideLayout" Target="/ppt/slideLayouts/slideLayout10.xml" Id="Rf7835c8e499e42a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7f0ad8ea597a44eb" /><Relationship Type="http://schemas.openxmlformats.org/officeDocument/2006/relationships/theme" Target="/ppt/slideMasters/theme/theme3.xml" Id="Rcc5bb8ee541c43a4" /><Relationship Type="http://schemas.openxmlformats.org/officeDocument/2006/relationships/slideLayout" Target="/ppt/slideLayouts/slideLayout11.xml" Id="R7434ec3017c44d1b" /><Relationship Type="http://schemas.openxmlformats.org/officeDocument/2006/relationships/slideLayout" Target="/ppt/slideLayouts/slideLayout12.xml" Id="Racfbd13c070141f9" /><Relationship Type="http://schemas.openxmlformats.org/officeDocument/2006/relationships/slideLayout" Target="/ppt/slideLayouts/slideLayout13.xml" Id="R77e72d2d20d04dac" /><Relationship Type="http://schemas.openxmlformats.org/officeDocument/2006/relationships/slideLayout" Target="/ppt/slideLayouts/slideLayout14.xml" Id="R32a7f7b6b73044cf" /><Relationship Type="http://schemas.openxmlformats.org/officeDocument/2006/relationships/slideLayout" Target="/ppt/slideLayouts/slideLayout15.xml" Id="Ra34ca24200c04794" /><Relationship Type="http://schemas.openxmlformats.org/officeDocument/2006/relationships/slideLayout" Target="/ppt/slideLayouts/slideLayout16.xml" Id="R6b8308fde878485c" /><Relationship Type="http://schemas.openxmlformats.org/officeDocument/2006/relationships/slideLayout" Target="/ppt/slideLayouts/slideLayout17.xml" Id="R23bb8b7a2c2e4057" /><Relationship Type="http://schemas.openxmlformats.org/officeDocument/2006/relationships/slideLayout" Target="/ppt/slideLayouts/slideLayout18.xml" Id="R587dfdbd257047b8" /><Relationship Type="http://schemas.openxmlformats.org/officeDocument/2006/relationships/slideLayout" Target="/ppt/slideLayouts/slideLayout19.xml" Id="Rce2c3517f6064967" /><Relationship Type="http://schemas.openxmlformats.org/officeDocument/2006/relationships/slideLayout" Target="/ppt/slideLayouts/slideLayout20.xml" Id="Rfccfde202ed54cd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5B62F0D-4AFB-4C89-AE79-E825F1040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D10A37F-86A2-4141-8F9C-FCE9B7F25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8610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1pPr>
            <a:lvl2pPr marL="914400" marR="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2pPr>
            <a:lvl3pPr marL="1371600" marR="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3pPr>
            <a:lvl4pPr marL="1828800" marR="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4pPr>
            <a:lvl5pPr marL="2286000" marR="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5pPr>
            <a:lvl6pPr marL="2743200" marR="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6pPr>
            <a:lvl7pPr marL="3200400" marR="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7pPr>
            <a:lvl8pPr marL="3657600" marR="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8pPr>
            <a:lvl9pPr marL="4114800" marR="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68FCA2A-93B5-49D2-8526-3FABE727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00" y="4917657"/>
            <a:ext cx="4675200" cy="27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marR="0" lvl="0" indent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rPr>
              <a:t>Proprietary content. © Great Learning. All Rights Reserved. Unauthorized use or distribution prohibited.</a:t>
            </a:r>
            <a:endParaRPr sz="700" b="1" i="0" u="none" cap="none">
              <a:solidFill>
                <a:srgbClr val="434343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0F4E45B-9C06-4E1E-AA77-BA6EBD3F5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9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6f3220bfd044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69500" y="68264"/>
            <a:ext cx="1395476" cy="572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424E6858-9145-444C-B974-3EFA9AA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10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BFBFC2E4-8223-4626-8E99-CCB7BBEF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353731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D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15e9ebcc8f41a7"/>
    <p:sldLayoutId xmlns:r="http://schemas.openxmlformats.org/officeDocument/2006/relationships" id="2147483650" r:id="R017f658bda844028"/>
    <p:sldLayoutId xmlns:r="http://schemas.openxmlformats.org/officeDocument/2006/relationships" id="2147483651" r:id="Rc411185c26e14b59"/>
    <p:sldLayoutId xmlns:r="http://schemas.openxmlformats.org/officeDocument/2006/relationships" id="2147483652" r:id="Re90fc4403b8b4985"/>
    <p:sldLayoutId xmlns:r="http://schemas.openxmlformats.org/officeDocument/2006/relationships" id="2147483653" r:id="R2bfc9fc646f44a73"/>
    <p:sldLayoutId xmlns:r="http://schemas.openxmlformats.org/officeDocument/2006/relationships" id="2147483654" r:id="R023be2fd125643a2"/>
    <p:sldLayoutId xmlns:r="http://schemas.openxmlformats.org/officeDocument/2006/relationships" id="2147483655" r:id="Rcef1cf980fd24645"/>
    <p:sldLayoutId xmlns:r="http://schemas.openxmlformats.org/officeDocument/2006/relationships" id="2147483656" r:id="R0b719dda66e54ea9"/>
    <p:sldLayoutId xmlns:r="http://schemas.openxmlformats.org/officeDocument/2006/relationships" id="2147483657" r:id="R2f9138277eb34651"/>
    <p:sldLayoutId xmlns:r="http://schemas.openxmlformats.org/officeDocument/2006/relationships" id="2147483658" r:id="Rf7835c8e499e42a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7AE766B3-EE32-4DED-A9AC-96CA9714BF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195F78B2-8F7B-44BB-9B2D-B1F1FEF8E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8610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1pPr>
            <a:lvl2pPr marL="914400" marR="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2pPr>
            <a:lvl3pPr marL="1371600" marR="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3pPr>
            <a:lvl4pPr marL="1828800" marR="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4pPr>
            <a:lvl5pPr marL="2286000" marR="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5pPr>
            <a:lvl6pPr marL="2743200" marR="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6pPr>
            <a:lvl7pPr marL="3200400" marR="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7pPr>
            <a:lvl8pPr marL="3657600" marR="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8pPr>
            <a:lvl9pPr marL="4114800" marR="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44713FDB-6281-4B7F-8CC6-4A7FB9FE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00" y="4917657"/>
            <a:ext cx="4675200" cy="27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marR="0" lvl="0" indent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rPr>
              <a:t>Proprietary content. © Great Learning. All Rights Reserved. Unauthorized use or distribution prohibited.</a:t>
            </a:r>
            <a:endParaRPr sz="700" b="1" i="0" u="none" cap="none">
              <a:solidFill>
                <a:srgbClr val="434343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600A6B02-8DE5-4F16-9742-10B37C596A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7" name="Google Shape;5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0ad8ea597a44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69500" y="68264"/>
            <a:ext cx="1395476" cy="572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2F8EE7BA-7CFB-456A-A9A7-867FF0F6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10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466D37E7-49DF-4B0C-8F3B-7E6025C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353731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D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7434ec3017c44d1b"/>
    <p:sldLayoutId xmlns:r="http://schemas.openxmlformats.org/officeDocument/2006/relationships" id="2147483661" r:id="Racfbd13c070141f9"/>
    <p:sldLayoutId xmlns:r="http://schemas.openxmlformats.org/officeDocument/2006/relationships" id="2147483662" r:id="R77e72d2d20d04dac"/>
    <p:sldLayoutId xmlns:r="http://schemas.openxmlformats.org/officeDocument/2006/relationships" id="2147483663" r:id="R32a7f7b6b73044cf"/>
    <p:sldLayoutId xmlns:r="http://schemas.openxmlformats.org/officeDocument/2006/relationships" id="2147483664" r:id="Ra34ca24200c04794"/>
    <p:sldLayoutId xmlns:r="http://schemas.openxmlformats.org/officeDocument/2006/relationships" id="2147483665" r:id="R6b8308fde878485c"/>
    <p:sldLayoutId xmlns:r="http://schemas.openxmlformats.org/officeDocument/2006/relationships" id="2147483666" r:id="R23bb8b7a2c2e4057"/>
    <p:sldLayoutId xmlns:r="http://schemas.openxmlformats.org/officeDocument/2006/relationships" id="2147483667" r:id="R587dfdbd257047b8"/>
    <p:sldLayoutId xmlns:r="http://schemas.openxmlformats.org/officeDocument/2006/relationships" id="2147483668" r:id="Rce2c3517f6064967"/>
    <p:sldLayoutId xmlns:r="http://schemas.openxmlformats.org/officeDocument/2006/relationships" id="2147483669" r:id="Rfccfde202ed54cd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a817e5b594287" /><Relationship Type="http://schemas.openxmlformats.org/officeDocument/2006/relationships/notesSlide" Target="/ppt/notesSlides/notesSlide1.xml" Id="Re134e66bc7ec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3c091982043ba" /><Relationship Type="http://schemas.openxmlformats.org/officeDocument/2006/relationships/notesSlide" Target="/ppt/notesSlides/notesSlide2.xml" Id="Rd1e9232efd8b48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988a49bdd400a" /><Relationship Type="http://schemas.openxmlformats.org/officeDocument/2006/relationships/notesSlide" Target="/ppt/notesSlides/notesSlide3.xml" Id="R7f388c63c58e4d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215dbf89914a5d" /><Relationship Type="http://schemas.openxmlformats.org/officeDocument/2006/relationships/notesSlide" Target="/ppt/notesSlides/notesSlide4.xml" Id="Raf29f020809740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2490141a74052" /><Relationship Type="http://schemas.openxmlformats.org/officeDocument/2006/relationships/chart" Target="/ppt/slides/charts/chart1.xml" Id="R69b6c24a8c4f4110" /><Relationship Type="http://schemas.openxmlformats.org/officeDocument/2006/relationships/notesSlide" Target="/ppt/notesSlides/notesSlide5.xml" Id="Rfaec79a9ddda4a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a1b640d6046ab" /><Relationship Type="http://schemas.openxmlformats.org/officeDocument/2006/relationships/notesSlide" Target="/ppt/notesSlides/notesSlide6.xml" Id="Ref8827a0fb0c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cbca271b945ac" /><Relationship Type="http://schemas.openxmlformats.org/officeDocument/2006/relationships/notesSlide" Target="/ppt/notesSlides/notesSlide7.xml" Id="R42f92774129344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8566e5bdf493d" /><Relationship Type="http://schemas.openxmlformats.org/officeDocument/2006/relationships/chart" Target="/ppt/slides/charts/chart2.xml" Id="R268c7744ab964501" /><Relationship Type="http://schemas.openxmlformats.org/officeDocument/2006/relationships/notesSlide" Target="/ppt/notesSlides/notesSlide8.xml" Id="R006c69916e194b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8cb954ec624efb" /><Relationship Type="http://schemas.openxmlformats.org/officeDocument/2006/relationships/chart" Target="/ppt/slides/charts/chart3.xml" Id="Rcfba5322e4874745" /><Relationship Type="http://schemas.openxmlformats.org/officeDocument/2006/relationships/notesSlide" Target="/ppt/notesSlides/notesSlide9.xml" Id="Rc02cef920cbf46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b9dc5d70a48da" /><Relationship Type="http://schemas.openxmlformats.org/officeDocument/2006/relationships/notesSlide" Target="/ppt/notesSlides/notesSlide10.xml" Id="R762e60be1d7440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a9318dfb6e40ce" /><Relationship Type="http://schemas.openxmlformats.org/officeDocument/2006/relationships/notesSlide" Target="/ppt/notesSlides/notesSlide11.xml" Id="Rb6d721e2697b46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cc784aefee45f4" /><Relationship Type="http://schemas.openxmlformats.org/officeDocument/2006/relationships/notesSlide" Target="/ppt/notesSlides/notesSlide12.xml" Id="R9fc1971badaf4a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3db659bef42f6" /><Relationship Type="http://schemas.openxmlformats.org/officeDocument/2006/relationships/notesSlide" Target="/ppt/notesSlides/notesSlide13.xml" Id="Ra432647ec4e14f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cc949deb2ea4b3e" /><Relationship Type="http://schemas.openxmlformats.org/officeDocument/2006/relationships/notesSlide" Target="/ppt/notesSlides/notesSlide14.xml" Id="Rb9a9518e92cc419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Average sales</c:v>
          </c:tx>
          <c:spPr>
            <a:solidFill xmlns:a="http://schemas.openxmlformats.org/drawingml/2006/main">
              <a:srgbClr val="0B42B5"/>
            </a:solidFill>
          </c:spPr>
          <c:cat>
            <c:strLit>
              <c:ptCount val="4"/>
              <c:pt idx="0">
                <c:v>OUT003</c:v>
              </c:pt>
              <c:pt idx="1">
                <c:v>OUT001</c:v>
              </c:pt>
              <c:pt idx="2">
                <c:v>OUT004</c:v>
              </c:pt>
              <c:pt idx="3">
                <c:v>OUT002</c:v>
              </c:pt>
            </c:strLit>
          </c:cat>
          <c:val>
            <c:numLit>
              <c:formatCode>General</c:formatCode>
              <c:ptCount val="4"/>
              <c:pt idx="0">
                <c:v>4946.97</c:v>
              </c:pt>
              <c:pt idx="1">
                <c:v>3923.78</c:v>
              </c:pt>
              <c:pt idx="2">
                <c:v>3299.31</c:v>
              </c:pt>
              <c:pt idx="3">
                <c:v>1762.94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1"/>
              </a:solidFill>
              <a:prstDash val="solid"/>
            </a:ln>
          </c:spPr>
        </c:majorGridlines>
        <c:numFmt formatCode="₹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F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RMSE</c:v>
          </c:tx>
          <c:spPr>
            <a:solidFill xmlns:a="http://schemas.openxmlformats.org/drawingml/2006/main">
              <a:srgbClr val="0B42B5"/>
            </a:solidFill>
          </c:spPr>
          <c:cat>
            <c:strLit>
              <c:ptCount val="2"/>
              <c:pt idx="0">
                <c:v>Random Forest</c:v>
              </c:pt>
              <c:pt idx="1">
                <c:v>Gradient Boosting</c:v>
              </c:pt>
            </c:strLit>
          </c:cat>
          <c:val>
            <c:numLit>
              <c:formatCode>₹0</c:formatCode>
              <c:ptCount val="2"/>
              <c:pt idx="0">
                <c:v>295.94</c:v>
              </c:pt>
              <c:pt idx="1">
                <c:v>319.73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52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1"/>
              </a:solidFill>
              <a:prstDash val="solid"/>
            </a:ln>
          </c:spPr>
        </c:majorGridlines>
        <c:numFmt formatCode="₹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RMSE</c:v>
          </c:tx>
          <c:spPr>
            <a:solidFill xmlns:a="http://schemas.openxmlformats.org/drawingml/2006/main">
              <a:srgbClr val="0B42B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6865C"/>
              </a:solidFill>
            </c:spPr>
          </c:dPt>
          <c:cat>
            <c:strLit>
              <c:ptCount val="4"/>
              <c:pt idx="0">
                <c:v>RF baseline</c:v>
              </c:pt>
              <c:pt idx="1">
                <c:v>RF tuned</c:v>
              </c:pt>
              <c:pt idx="2">
                <c:v>GB baseline</c:v>
              </c:pt>
              <c:pt idx="3">
                <c:v>GB tuned</c:v>
              </c:pt>
            </c:strLit>
          </c:cat>
          <c:val>
            <c:numLit>
              <c:formatCode>₹0</c:formatCode>
              <c:ptCount val="4"/>
              <c:pt idx="0">
                <c:v>295.94</c:v>
              </c:pt>
              <c:pt idx="1">
                <c:v>289.08</c:v>
              </c:pt>
              <c:pt idx="2">
                <c:v>319.73</c:v>
              </c:pt>
              <c:pt idx="3">
                <c:v>310.84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1"/>
              </a:solidFill>
              <a:prstDash val="solid"/>
            </a:ln>
          </c:spPr>
        </c:majorGridlines>
        <c:numFmt formatCode="₹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3">
            <a:extLst xmlns:a="http://schemas.openxmlformats.org/drawingml/2006/main">
              <a:ext uri="{FF2B5EF4-FFF2-40B4-BE49-F238E27FC236}">
                <a16:creationId xmlns:a16="http://schemas.microsoft.com/office/drawing/2014/main" id="{64829D40-CE49-45C9-BB82-E04900AE8F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58150" y="1412050"/>
            <a:ext cx="6827700" cy="58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87598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 b="1">
                <a:solidFill>
                  <a:srgbClr val="0B42B5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42B5"/>
                </a:solidFill>
                <a:latin typeface="Nunito"/>
                <a:ea typeface="Nunito"/>
                <a:cs typeface="Nunito"/>
              </a:rPr>
              <a:t>SuperKart Sales Forecasting and Model Deployment</a:t>
            </a:r>
            <a:endParaRPr sz="3600"/>
          </a:p>
        </p:txBody>
      </p:sp>
      <p:sp>
        <p:nvSpPr>
          <p:cNvPr id="106" name="Google Shape;106;p23">
            <a:extLst xmlns:a="http://schemas.openxmlformats.org/drawingml/2006/main">
              <a:ext uri="{FF2B5EF4-FFF2-40B4-BE49-F238E27FC236}">
                <a16:creationId xmlns:a16="http://schemas.microsoft.com/office/drawing/2014/main" id="{209D28A3-A540-42A2-ACF3-BD08C6294D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53000" y="2038575"/>
            <a:ext cx="6827700" cy="4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Model Deployment Project | Low-Code Submission</a:t>
            </a:r>
            <a:endParaRPr sz="3000" b="0"/>
          </a:p>
        </p:txBody>
      </p:sp>
      <p:sp>
        <p:nvSpPr>
          <p:cNvPr id="107" name="Google Shape;107;p23">
            <a:extLst xmlns:a="http://schemas.openxmlformats.org/drawingml/2006/main">
              <a:ext uri="{FF2B5EF4-FFF2-40B4-BE49-F238E27FC236}">
                <a16:creationId xmlns:a16="http://schemas.microsoft.com/office/drawing/2014/main" id="{BBDED095-D12B-45EF-AE37-420A666388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53000" y="2429300"/>
            <a:ext cx="6827700" cy="4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September 2026</a:t>
            </a:r>
            <a:endParaRPr sz="1600" b="0"/>
          </a:p>
        </p:txBody>
      </p:sp>
    </p:spTree>
    <p:extLst>
      <p:ext uri="{BB962C8B-B14F-4D97-AF65-F5344CB8AC3E}">
        <p14:creationId xmlns:p14="http://schemas.microsoft.com/office/powerpoint/2010/main" val="18532368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24">
            <a:extLst xmlns:a="http://schemas.openxmlformats.org/drawingml/2006/main">
              <a:ext uri="{FF2B5EF4-FFF2-40B4-BE49-F238E27FC236}">
                <a16:creationId xmlns:a16="http://schemas.microsoft.com/office/drawing/2014/main" id="{44F04245-DA04-4DE8-8D4A-4DADA4407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4">
            <a:extLst xmlns:a="http://schemas.openxmlformats.org/drawingml/2006/main">
              <a:ext uri="{FF2B5EF4-FFF2-40B4-BE49-F238E27FC236}">
                <a16:creationId xmlns:a16="http://schemas.microsoft.com/office/drawing/2014/main" id="{5AD823C8-F32B-4FC8-8DAD-454E4809FC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238"/>
                </a:solidFill>
                <a:latin typeface="Arial"/>
                <a:ea typeface="Arial"/>
                <a:cs typeface="Arial"/>
              </a:rPr>
              <a:t>Executive summary and business objective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238"/>
                </a:solidFill>
                <a:latin typeface="Arial"/>
                <a:ea typeface="Arial"/>
                <a:cs typeface="Arial"/>
              </a:rPr>
              <a:t>Data overview, exploration, and preprocessing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238"/>
                </a:solidFill>
                <a:latin typeface="Arial"/>
                <a:ea typeface="Arial"/>
                <a:cs typeface="Arial"/>
              </a:rPr>
              <a:t>Model development, tuning, and final selection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238"/>
                </a:solidFill>
                <a:latin typeface="Arial"/>
                <a:ea typeface="Arial"/>
                <a:cs typeface="Arial"/>
              </a:rPr>
              <a:t>Serialization, API validation, and deployment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2238"/>
                </a:solidFill>
                <a:latin typeface="Arial"/>
                <a:ea typeface="Arial"/>
                <a:cs typeface="Arial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231146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25">
            <a:extLst xmlns:a="http://schemas.openxmlformats.org/drawingml/2006/main">
              <a:ext uri="{FF2B5EF4-FFF2-40B4-BE49-F238E27FC236}">
                <a16:creationId xmlns:a16="http://schemas.microsoft.com/office/drawing/2014/main" id="{A4A9A5CC-F2FC-4F4B-8CAB-4F2250AD7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Executive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25">
            <a:extLst xmlns:a="http://schemas.openxmlformats.org/drawingml/2006/main">
              <a:ext uri="{FF2B5EF4-FFF2-40B4-BE49-F238E27FC236}">
                <a16:creationId xmlns:a16="http://schemas.microsoft.com/office/drawing/2014/main" id="{CAF6654C-E35A-4F01-A4F6-C7B816AF4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56E4BFF-2584-4542-8D73-92388201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Recommended model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2738F86-33AF-4D4D-872E-B942FAF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85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Tuned Random Forest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A14FAB6-7A16-4E59-9955-9BC7F1D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Test RMSE ₹289.08</a:t>
            </a:r>
          </a:p>
          <a:p xmlns:a="http://schemas.openxmlformats.org/drawingml/2006/main">
            <a:pPr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Test MAE ₹109.29</a:t>
            </a:r>
          </a:p>
          <a:p xmlns:a="http://schemas.openxmlformats.org/drawingml/2006/main">
            <a:pPr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R² 0.927</a:t>
            </a:r>
          </a:p>
          <a:p xmlns:a="http://schemas.openxmlformats.org/drawingml/2006/main">
            <a:pPr>
              <a:defRPr sz="17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MAPE 5.0%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89C76E0-1EDC-4A1A-BCA1-3789953A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66800"/>
            <a:ext cx="4905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Product MRP is the strongest modeled driver of sales revenue.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Store format and location create large differences in average sales.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serialized pipeline reproduced predictions exactly after reload.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Flask API returned valid single and batch predictions.</a:t>
            </a:r>
          </a:p>
        </p:txBody>
      </p:sp>
    </p:spTree>
    <p:extLst>
      <p:ext uri="{BB962C8B-B14F-4D97-AF65-F5344CB8AC3E}">
        <p14:creationId xmlns:p14="http://schemas.microsoft.com/office/powerpoint/2010/main" val="14916646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26">
            <a:extLst xmlns:a="http://schemas.openxmlformats.org/drawingml/2006/main">
              <a:ext uri="{FF2B5EF4-FFF2-40B4-BE49-F238E27FC236}">
                <a16:creationId xmlns:a16="http://schemas.microsoft.com/office/drawing/2014/main" id="{3168F7E8-B2CB-40D7-B368-BF17B6B08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Business Problem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26">
            <a:extLst xmlns:a="http://schemas.openxmlformats.org/drawingml/2006/main">
              <a:ext uri="{FF2B5EF4-FFF2-40B4-BE49-F238E27FC236}">
                <a16:creationId xmlns:a16="http://schemas.microsoft.com/office/drawing/2014/main" id="{FED21877-0224-484D-90F6-B2696716A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FFD38E0-A55C-45EF-8855-121F0FC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Business need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D9E6901-FEC1-4FF0-A39E-4092209E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Forecast product-store sales for the upcoming quarter so SuperKart can improve inventory decisions and regional sales planning.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363DBD4-D4B8-4E8B-8242-D749BF2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66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Modeling approach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17183AC-05A5-4A09-B5F7-5C866182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39065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Treat each product-store record as a supervised regression case. Engineer product family and store age, encode categories, and retain numeric measures.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A605659-A0E5-481F-9D12-FC404685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Model evaluation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36F7534-6559-4AFD-946A-D0CC210D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Use RMSE as the primary metric because large revenue errors create greater inventory risk. Track MAE, R², and MAPE for interpretability.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8632F76-C5C4-475E-AA81-72979598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Operationalization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42C7958-7AA7-4F48-864D-5DDC3D5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0515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Serialize the full preprocessing and model pipeline. Serve single and batch predictions through Flask and a Streamlit interface.</a:t>
            </a:r>
          </a:p>
        </p:txBody>
      </p:sp>
    </p:spTree>
    <p:extLst>
      <p:ext uri="{BB962C8B-B14F-4D97-AF65-F5344CB8AC3E}">
        <p14:creationId xmlns:p14="http://schemas.microsoft.com/office/powerpoint/2010/main" val="19436142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27">
            <a:extLst xmlns:a="http://schemas.openxmlformats.org/drawingml/2006/main">
              <a:ext uri="{FF2B5EF4-FFF2-40B4-BE49-F238E27FC236}">
                <a16:creationId xmlns:a16="http://schemas.microsoft.com/office/drawing/2014/main" id="{8DB0D459-CAC1-479B-8B94-49AFEB693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27">
            <a:extLst xmlns:a="http://schemas.openxmlformats.org/drawingml/2006/main">
              <a:ext uri="{FF2B5EF4-FFF2-40B4-BE49-F238E27FC236}">
                <a16:creationId xmlns:a16="http://schemas.microsoft.com/office/drawing/2014/main" id="{CED7FA20-6095-4AA6-93B8-6A42E472CD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32" name="Google Shape;132;p27">
            <a:extLst xmlns:a="http://schemas.openxmlformats.org/drawingml/2006/main">
              <a:ext uri="{FF2B5EF4-FFF2-40B4-BE49-F238E27FC236}">
                <a16:creationId xmlns:a16="http://schemas.microsoft.com/office/drawing/2014/main" id="{25D889F2-8A04-4F6D-B3B0-C7C3AEA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mlns:a="http://schemas.openxmlformats.org/drawingml/2006/main" x="457200" y="1066800"/>
          <a:ext xmlns:a="http://schemas.openxmlformats.org/drawingml/2006/main" cx="4762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b6c24a8c4f4110"/>
          </a:graphicData>
        </a:graphic>
      </p:graphicFrame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BC78952-8C09-4D72-951A-4281AE8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858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Average sales by store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4F1FF6B-038E-47F6-BD6E-E98030B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06680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2238"/>
                </a:solidFill>
                <a:latin typeface="Arial"/>
                <a:ea typeface="Arial"/>
                <a:cs typeface="Arial"/>
              </a:rPr>
              <a:t>8,763 records, 12 source fields, no missing values, and no duplicate rows.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2238"/>
                </a:solidFill>
                <a:latin typeface="Arial"/>
                <a:ea typeface="Arial"/>
                <a:cs typeface="Arial"/>
              </a:rPr>
              <a:t>Average product-store sales are ₹3,464; the distribution is nearly symmetric.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2238"/>
                </a:solidFill>
                <a:latin typeface="Arial"/>
                <a:ea typeface="Arial"/>
                <a:cs typeface="Arial"/>
              </a:rPr>
              <a:t>Product MRP has the strongest numeric correlation with sales at 0.788.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52238"/>
                </a:solidFill>
                <a:latin typeface="Arial"/>
                <a:ea typeface="Arial"/>
                <a:cs typeface="Arial"/>
              </a:rPr>
              <a:t>OUT003 leads average sales, while OUT004 leads total revenue because it has the most records.</a:t>
            </a:r>
          </a:p>
        </p:txBody>
      </p:sp>
    </p:spTree>
    <p:extLst>
      <p:ext uri="{BB962C8B-B14F-4D97-AF65-F5344CB8AC3E}">
        <p14:creationId xmlns:p14="http://schemas.microsoft.com/office/powerpoint/2010/main" val="12101956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8">
            <a:extLst xmlns:a="http://schemas.openxmlformats.org/drawingml/2006/main">
              <a:ext uri="{FF2B5EF4-FFF2-40B4-BE49-F238E27FC236}">
                <a16:creationId xmlns:a16="http://schemas.microsoft.com/office/drawing/2014/main" id="{E7E361B6-DCDD-4DBE-9BDE-7854E6F61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Data Preprocessing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28">
            <a:extLst xmlns:a="http://schemas.openxmlformats.org/drawingml/2006/main">
              <a:ext uri="{FF2B5EF4-FFF2-40B4-BE49-F238E27FC236}">
                <a16:creationId xmlns:a16="http://schemas.microsoft.com/office/drawing/2014/main" id="{A242BD2F-5236-4FFB-8F55-3498B879DA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3ECD2D7-25FA-45DC-8B19-DBD66FA4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Feature engineering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C3E7B23-4023-49E3-98C2-A952031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3857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Standardized the 'reg' label to 'Regular'. Extracted the product ID prefix, calculated store age as 2025 minus establishment year, and grouped product types into perishables and non-perishables.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A666E6F-FB55-46EB-9EF4-F28DA62E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287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Outlier treatment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F51834C-70D0-4D0A-8F6B-E77117C6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3857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IQR checks identified 0.6% to 1.4% potential outliers across numeric fields. Values remained within plausible business ranges, so the analysis retained them.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80D1FE8-94B8-44AB-886D-AFB2686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Train and test design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85161D0-6A75-479A-B613-C6F41A9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38576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 reproducible 70:30 random split created 6,134 training records and 2,629 test records. The test set remained untouched during hyperparameter selection.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6E226E7-F5F7-42E6-A661-5D62B93D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Preprocessing pipeline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71AE9A4-D6DA-419A-8CC7-ABD387C7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38576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OneHotEncoder handles categorical fields and ignores unseen labels. Numeric features pass through unchanged. The model pipeline prevents inconsistent preprocessing during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3080236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9">
            <a:extLst xmlns:a="http://schemas.openxmlformats.org/drawingml/2006/main">
              <a:ext uri="{FF2B5EF4-FFF2-40B4-BE49-F238E27FC236}">
                <a16:creationId xmlns:a16="http://schemas.microsoft.com/office/drawing/2014/main" id="{8D430C70-1253-4253-94ED-DC2379255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29">
            <a:extLst xmlns:a="http://schemas.openxmlformats.org/drawingml/2006/main">
              <a:ext uri="{FF2B5EF4-FFF2-40B4-BE49-F238E27FC236}">
                <a16:creationId xmlns:a16="http://schemas.microsoft.com/office/drawing/2014/main" id="{40682F12-0D6A-40C5-A71D-CF210C696D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49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8096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25430"/>
                <a:gridCol w="2787234"/>
                <a:gridCol w="3583586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Fields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in the model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Weight, MRP, allocated area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Numeric demand and merchandising signals</a:t>
                      </a:r>
                    </a:p>
                  </a:txBody>
                  <a:tcPr marL="57150" marR="5715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 category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Sugar content, type, product ID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Encoded product attributes and engineered family</a:t>
                      </a:r>
                    </a:p>
                  </a:txBody>
                  <a:tcPr marL="57150" marR="5715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Store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ID, establishment year, size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Engineered store age and store characteristics</a:t>
                      </a:r>
                    </a:p>
                  </a:txBody>
                  <a:tcPr marL="57150" marR="5715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City tier and store type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Regional and format differences</a:t>
                      </a:r>
                    </a:p>
                  </a:txBody>
                  <a:tcPr marL="57150" marR="57150" marT="38100" marB="3810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Product_Store_Sales_Total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Revenue predicted for each product-store record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C382F90-85A6-438D-8DDD-9B0C19A9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6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65C"/>
                </a:solidFill>
                <a:latin typeface="Arial"/>
                <a:ea typeface="Arial"/>
                <a:cs typeface="Arial"/>
              </a:rPr>
              <a:t>Data quality: 8,763 rows | 0 missing values | 0 duplicates</a:t>
            </a:r>
          </a:p>
        </p:txBody>
      </p:sp>
    </p:spTree>
    <p:extLst>
      <p:ext uri="{BB962C8B-B14F-4D97-AF65-F5344CB8AC3E}">
        <p14:creationId xmlns:p14="http://schemas.microsoft.com/office/powerpoint/2010/main" val="11437294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30">
            <a:extLst xmlns:a="http://schemas.openxmlformats.org/drawingml/2006/main">
              <a:ext uri="{FF2B5EF4-FFF2-40B4-BE49-F238E27FC236}">
                <a16:creationId xmlns:a16="http://schemas.microsoft.com/office/drawing/2014/main" id="{671E233F-238C-437F-A90D-5D27A101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30">
            <a:extLst xmlns:a="http://schemas.openxmlformats.org/drawingml/2006/main">
              <a:ext uri="{FF2B5EF4-FFF2-40B4-BE49-F238E27FC236}">
                <a16:creationId xmlns:a16="http://schemas.microsoft.com/office/drawing/2014/main" id="{8B633D95-7A91-4609-84BF-8754AF481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59" name="Chart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8c7744ab964501"/>
          </a:graphicData>
        </a:graphic>
      </p:graphicFrame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649D753-3887-4897-9C7C-AC201DC4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Baseline holdout performance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B59D48C-A3D5-4B7E-9C7E-19375D2A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14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Metric choice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BA7D9F5-EFC0-4E19-A5EA-26AA88A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2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RMSE penalizes large revenue misses more heavily than small misses. That aligns with the inventory cost of substantial over- or under-forecasting.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D1E62A3-D33B-41CD-848C-A4BB7D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Initial result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1A1C924-4191-4F8A-B386-2CE8171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1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Random Forest produced the lower test RMSE and MAE. Its train-test gap showed overfitting, which tuning targeted through leaf-size and feature-sampling controls.</a:t>
            </a:r>
          </a:p>
        </p:txBody>
      </p:sp>
    </p:spTree>
    <p:extLst>
      <p:ext uri="{BB962C8B-B14F-4D97-AF65-F5344CB8AC3E}">
        <p14:creationId xmlns:p14="http://schemas.microsoft.com/office/powerpoint/2010/main" val="19436147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31">
            <a:extLst xmlns:a="http://schemas.openxmlformats.org/drawingml/2006/main">
              <a:ext uri="{FF2B5EF4-FFF2-40B4-BE49-F238E27FC236}">
                <a16:creationId xmlns:a16="http://schemas.microsoft.com/office/drawing/2014/main" id="{0642467A-4D63-4FA0-8DAA-120A1521F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Model Improvement: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31">
            <a:extLst xmlns:a="http://schemas.openxmlformats.org/drawingml/2006/main">
              <a:ext uri="{FF2B5EF4-FFF2-40B4-BE49-F238E27FC236}">
                <a16:creationId xmlns:a16="http://schemas.microsoft.com/office/drawing/2014/main" id="{E4DF8AF0-BDBD-4EAB-9949-1C4DCE2D91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64" name="Chart"/>
          <p:cNvGraphicFramePr/>
          <p:nvPr/>
        </p:nvGraphicFramePr>
        <p:xfrm>
          <a:off xmlns:a="http://schemas.openxmlformats.org/drawingml/2006/main" x="476250" y="1190625"/>
          <a:ext xmlns:a="http://schemas.openxmlformats.org/drawingml/2006/main" cx="49530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a5322e4874745"/>
          </a:graphicData>
        </a:graphic>
      </p:graphicFrame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5E6B438-F8FE-40DD-8203-A306BFC1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43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373DBDE-2169-447E-AC45-6645EE11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276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Best grid result: 250 trees, unrestricted depth, 80% feature sampling, and minimum leaf size of 3. Test RMSE improved by 2.3%.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11A8721-5315-435D-B908-B3D50750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A579582-02CE-4455-BC92-5E0DF9BD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276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1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Best grid result: 200 trees, learning rate 0.1, depth 3, and 80% row sampling. Test RMSE improved by 2.8%, but remained above Random Forest.</a:t>
            </a:r>
          </a:p>
        </p:txBody>
      </p:sp>
    </p:spTree>
    <p:extLst>
      <p:ext uri="{BB962C8B-B14F-4D97-AF65-F5344CB8AC3E}">
        <p14:creationId xmlns:p14="http://schemas.microsoft.com/office/powerpoint/2010/main" val="6754581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32">
            <a:extLst xmlns:a="http://schemas.openxmlformats.org/drawingml/2006/main">
              <a:ext uri="{FF2B5EF4-FFF2-40B4-BE49-F238E27FC236}">
                <a16:creationId xmlns:a16="http://schemas.microsoft.com/office/drawing/2014/main" id="{ABD13354-035C-41DA-B249-177551414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32">
            <a:extLst xmlns:a="http://schemas.openxmlformats.org/drawingml/2006/main">
              <a:ext uri="{FF2B5EF4-FFF2-40B4-BE49-F238E27FC236}">
                <a16:creationId xmlns:a16="http://schemas.microsoft.com/office/drawing/2014/main" id="{58E7697A-6370-4F1D-89E1-5FFF0C0BE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63" name="Google Shape;163;p32">
            <a:extLst xmlns:a="http://schemas.openxmlformats.org/drawingml/2006/main">
              <a:ext uri="{FF2B5EF4-FFF2-40B4-BE49-F238E27FC236}">
                <a16:creationId xmlns:a16="http://schemas.microsoft.com/office/drawing/2014/main" id="{43188B78-01A4-4E3F-9FD9-CC67B477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graphicFrame>
        <p:nvGraphicFramePr>
          <p:cNvPr id="172" name=""/>
          <p:cNvGraphicFramePr/>
          <p:nvPr/>
        </p:nvGraphicFramePr>
        <p:xfrm>
          <a:off xmlns:a="http://schemas.openxmlformats.org/drawingml/2006/main" x="428625" y="1123950"/>
          <a:ext xmlns:a="http://schemas.openxmlformats.org/drawingml/2006/main" cx="82867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381125"/>
                <a:gridCol w="1381125"/>
                <a:gridCol w="1381125"/>
                <a:gridCol w="1381125"/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295.94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112.71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0.923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5.02%</a:t>
                      </a:r>
                    </a:p>
                  </a:txBody>
                  <a:tcPr marL="57150" marR="57150" marT="38100" marB="3810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5B3D"/>
                          </a:solidFill>
                          <a:latin typeface="Arial"/>
                          <a:ea typeface="Arial"/>
                          <a:cs typeface="Arial"/>
                        </a:rPr>
                        <a:t>Random Forest tuned</a:t>
                      </a:r>
                    </a:p>
                  </a:txBody>
                  <a:tcPr marL="57150" marR="57150" marT="38100" marB="38100"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5B3D"/>
                          </a:solidFill>
                          <a:latin typeface="Arial"/>
                          <a:ea typeface="Arial"/>
                          <a:cs typeface="Arial"/>
                        </a:rPr>
                        <a:t>289.08</a:t>
                      </a:r>
                    </a:p>
                  </a:txBody>
                  <a:tcPr marL="57150" marR="57150" marT="38100" marB="38100"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5B3D"/>
                          </a:solidFill>
                          <a:latin typeface="Arial"/>
                          <a:ea typeface="Arial"/>
                          <a:cs typeface="Arial"/>
                        </a:rPr>
                        <a:t>109.29</a:t>
                      </a:r>
                    </a:p>
                  </a:txBody>
                  <a:tcPr marL="57150" marR="57150" marT="38100" marB="38100"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5B3D"/>
                          </a:solidFill>
                          <a:latin typeface="Arial"/>
                          <a:ea typeface="Arial"/>
                          <a:cs typeface="Arial"/>
                        </a:rPr>
                        <a:t>0.927</a:t>
                      </a:r>
                    </a:p>
                  </a:txBody>
                  <a:tcPr marL="57150" marR="57150" marT="38100" marB="38100"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A5B3D"/>
                          </a:solidFill>
                          <a:latin typeface="Arial"/>
                          <a:ea typeface="Arial"/>
                          <a:cs typeface="Arial"/>
                        </a:rPr>
                        <a:t>5.00%</a:t>
                      </a:r>
                    </a:p>
                  </a:txBody>
                  <a:tcPr marL="57150" marR="57150" marT="38100" marB="38100">
                    <a:solidFill>
                      <a:srgbClr val="E7F5E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319.73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151.82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0.911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6.49%</a:t>
                      </a:r>
                    </a:p>
                  </a:txBody>
                  <a:tcPr marL="57150" marR="57150" marT="38100" marB="3810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 tuned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310.84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134.85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0.916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5.65%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F929D9E-FCCA-4754-A780-42DDC98D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6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65C"/>
                </a:solidFill>
                <a:latin typeface="Arial"/>
                <a:ea typeface="Arial"/>
                <a:cs typeface="Arial"/>
              </a:rPr>
              <a:t>Final selection: tuned Random Forest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5A5E227-5FC6-4196-8C0B-8EFE9971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Lowest holdout RMSE and MAE, strongest R², and reduced overfitting relative to the baseline model.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5317789-CFCA-424E-AA8F-1298E00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Serialization check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46659A8-2974-4B3C-BCF9-A02F316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57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8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saved pipeline reloaded successfully and reproduced all test predictions exactly.</a:t>
            </a:r>
          </a:p>
        </p:txBody>
      </p:sp>
    </p:spTree>
    <p:extLst>
      <p:ext uri="{BB962C8B-B14F-4D97-AF65-F5344CB8AC3E}">
        <p14:creationId xmlns:p14="http://schemas.microsoft.com/office/powerpoint/2010/main" val="18585519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33">
            <a:extLst xmlns:a="http://schemas.openxmlformats.org/drawingml/2006/main">
              <a:ext uri="{FF2B5EF4-FFF2-40B4-BE49-F238E27FC236}">
                <a16:creationId xmlns:a16="http://schemas.microsoft.com/office/drawing/2014/main" id="{5FA6CBC8-BAE8-478D-909B-1BE3D17F3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Deployment: Single Inference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9" name="Google Shape;169;p33">
            <a:extLst xmlns:a="http://schemas.openxmlformats.org/drawingml/2006/main">
              <a:ext uri="{FF2B5EF4-FFF2-40B4-BE49-F238E27FC236}">
                <a16:creationId xmlns:a16="http://schemas.microsoft.com/office/drawing/2014/main" id="{09BA2D81-FC1B-494D-B922-EEEFFB0F70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70" name="Google Shape;170;p33">
            <a:extLst xmlns:a="http://schemas.openxmlformats.org/drawingml/2006/main">
              <a:ext uri="{FF2B5EF4-FFF2-40B4-BE49-F238E27FC236}">
                <a16:creationId xmlns:a16="http://schemas.microsoft.com/office/drawing/2014/main" id="{8C92234B-A04A-4938-B5F9-889DACF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9DC0353-5768-4679-B751-AB1D70CE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Validated request</a:t>
            </a:r>
          </a:p>
        </p:txBody>
      </p:sp>
      <p:graphicFrame>
        <p:nvGraphicFramePr>
          <p:cNvPr id="181" name="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39052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4520"/>
                <a:gridCol w="2030730"/>
              </a:tblGrid>
              <a:tr h="412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FD / Non Perishables</a:t>
                      </a:r>
                    </a:p>
                  </a:txBody>
                  <a:tcPr marL="57150" marR="57150" marT="38100" marB="3810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12.66</a:t>
                      </a:r>
                    </a:p>
                  </a:txBody>
                  <a:tcPr marL="57150" marR="57150" marT="38100" marB="3810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MRP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₹117.08</a:t>
                      </a:r>
                    </a:p>
                  </a:txBody>
                  <a:tcPr marL="57150" marR="57150" marT="38100" marB="3810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Store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Medium / Tier 2</a:t>
                      </a:r>
                    </a:p>
                  </a:txBody>
                  <a:tcPr marL="57150" marR="57150" marT="38100" marB="38100"/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Store type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Supermarket Type2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37A6318-453F-47AB-8290-67918D6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00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2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2B5"/>
                </a:solidFill>
                <a:latin typeface="Arial"/>
                <a:ea typeface="Arial"/>
                <a:cs typeface="Arial"/>
              </a:rPr>
              <a:t>API response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C74EEA8-3ECA-4665-8476-DCC76D8D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6687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865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65C"/>
                </a:solidFill>
                <a:latin typeface="Arial"/>
                <a:ea typeface="Arial"/>
                <a:cs typeface="Arial"/>
              </a:rPr>
              <a:t>₹2,884.53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59EB84B-83AC-4E27-882A-8B1C5F47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193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POST /v1/predict</a:t>
            </a:r>
          </a:p>
          <a:p xmlns:a="http://schemas.openxmlformats.org/drawingml/2006/main">
            <a:pPr algn="ctr">
              <a:defRPr sz="14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HTTP 200</a:t>
            </a:r>
          </a:p>
          <a:p xmlns:a="http://schemas.openxmlformats.org/drawingml/2006/main">
            <a:pPr algn="ctr">
              <a:defRPr sz="14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Flask test client validation passed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766B046-0171-480A-A15B-6E1BE1B7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338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76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6000"/>
                </a:solidFill>
                <a:latin typeface="Arial"/>
                <a:ea typeface="Arial"/>
                <a:cs typeface="Arial"/>
              </a:rPr>
              <a:t>Codespaces forwarded URL: insert after GitHub deployment</a:t>
            </a:r>
          </a:p>
        </p:txBody>
      </p:sp>
    </p:spTree>
    <p:extLst>
      <p:ext uri="{BB962C8B-B14F-4D97-AF65-F5344CB8AC3E}">
        <p14:creationId xmlns:p14="http://schemas.microsoft.com/office/powerpoint/2010/main" val="18393659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175;p34">
            <a:extLst xmlns:a="http://schemas.openxmlformats.org/drawingml/2006/main">
              <a:ext uri="{FF2B5EF4-FFF2-40B4-BE49-F238E27FC236}">
                <a16:creationId xmlns:a16="http://schemas.microsoft.com/office/drawing/2014/main" id="{110B6379-AE11-4455-92D0-A451E63A8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Deployment: Batch Inference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4">
            <a:extLst xmlns:a="http://schemas.openxmlformats.org/drawingml/2006/main">
              <a:ext uri="{FF2B5EF4-FFF2-40B4-BE49-F238E27FC236}">
                <a16:creationId xmlns:a16="http://schemas.microsoft.com/office/drawing/2014/main" id="{D61C377F-3616-462F-B0E0-9FABC70AB3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77" name="Google Shape;177;p34">
            <a:extLst xmlns:a="http://schemas.openxmlformats.org/drawingml/2006/main">
              <a:ext uri="{FF2B5EF4-FFF2-40B4-BE49-F238E27FC236}">
                <a16:creationId xmlns:a16="http://schemas.microsoft.com/office/drawing/2014/main" id="{40052CD5-EDBC-4B7B-9D6E-63B94749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08B1AEE-1740-4E93-80F7-C75C13F3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5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65C"/>
                </a:solidFill>
                <a:latin typeface="Arial"/>
                <a:ea typeface="Arial"/>
                <a:cs typeface="Arial"/>
              </a:rPr>
              <a:t>POST /v1/predictbatch returned HTTP 200 for all 10 uploaded records</a:t>
            </a:r>
          </a:p>
        </p:txBody>
      </p:sp>
      <p:graphicFrame>
        <p:nvGraphicFramePr>
          <p:cNvPr id="185" name="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76200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1429"/>
                <a:gridCol w="2358571"/>
                <a:gridCol w="1451429"/>
                <a:gridCol w="2358571"/>
              </a:tblGrid>
              <a:tr h="388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sales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sales</a:t>
                      </a:r>
                    </a:p>
                  </a:txBody>
                  <a:tcPr marL="57150" marR="57150" marT="38100" marB="38100">
                    <a:solidFill>
                      <a:srgbClr val="0B42B5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₹3,908.65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₹4,789.26</a:t>
                      </a:r>
                    </a:p>
                  </a:txBody>
                  <a:tcPr marL="57150" marR="57150" marT="38100" marB="38100"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₹3,028.07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₹2,515.10</a:t>
                      </a:r>
                    </a:p>
                  </a:txBody>
                  <a:tcPr marL="57150" marR="57150" marT="38100" marB="38100"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₹3,759.09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₹2,261.77</a:t>
                      </a:r>
                    </a:p>
                  </a:txBody>
                  <a:tcPr marL="57150" marR="57150" marT="38100" marB="38100"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₹1,639.16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₹4,887.99</a:t>
                      </a:r>
                    </a:p>
                  </a:txBody>
                  <a:tcPr marL="57150" marR="57150" marT="38100" marB="38100"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₹4,067.32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₹2,473.28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3C8A602-075C-41C5-811C-12E954F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0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endpoint accepted the supplied Batch_Data_SuperKart.csv schema and returned one prediction per row.</a:t>
            </a:r>
          </a:p>
        </p:txBody>
      </p:sp>
    </p:spTree>
    <p:extLst>
      <p:ext uri="{BB962C8B-B14F-4D97-AF65-F5344CB8AC3E}">
        <p14:creationId xmlns:p14="http://schemas.microsoft.com/office/powerpoint/2010/main" val="15674861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Google Shape;182;p35">
            <a:extLst xmlns:a="http://schemas.openxmlformats.org/drawingml/2006/main">
              <a:ext uri="{FF2B5EF4-FFF2-40B4-BE49-F238E27FC236}">
                <a16:creationId xmlns:a16="http://schemas.microsoft.com/office/drawing/2014/main" id="{B76AC72D-888A-4765-BA56-424304B2F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025" b="1">
                <a:solidFill>
                  <a:srgbClr val="152238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152238"/>
                </a:solidFill>
                <a:latin typeface="Nunito"/>
                <a:ea typeface="Nunito"/>
                <a:cs typeface="Nunito"/>
              </a:rPr>
              <a:t>Actionable Insights and Recommendations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35">
            <a:extLst xmlns:a="http://schemas.openxmlformats.org/drawingml/2006/main">
              <a:ext uri="{FF2B5EF4-FFF2-40B4-BE49-F238E27FC236}">
                <a16:creationId xmlns:a16="http://schemas.microsoft.com/office/drawing/2014/main" id="{34D421FF-FFEA-4523-BF6F-F8846AE606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6375" y="5095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F7F7428-1D1D-402D-969B-5D6E3415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00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Use the tuned Random Forest pipeline for quarterly product-store forecasts and preserve the complete preprocessing pipeline during deployment.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Use MRP and store characteristics as primary planning signals. Product MRP accounts for about 36% of model importance, while store format, size, and city tier explain much of the remaining variation.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Set store-specific inventory targets. OUT003 has the highest average sales, while OUT004 generates the most total revenue because of its larger product volume.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Use single inference for product-level decisions and batch inference for quarterly assortment and inventory planning.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52238"/>
                </a:solidFill>
                <a:latin typeface="Arial"/>
                <a:ea typeface="Arial"/>
                <a:cs typeface="Arial"/>
              </a:rPr>
              <a:t>Monitor RMSE and MAE by store. Retrain when error increases materially or when the product and store mix changes.</a:t>
            </a:r>
          </a:p>
        </p:txBody>
      </p:sp>
    </p:spTree>
    <p:extLst>
      <p:ext uri="{BB962C8B-B14F-4D97-AF65-F5344CB8AC3E}">
        <p14:creationId xmlns:p14="http://schemas.microsoft.com/office/powerpoint/2010/main" val="3738463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Google Shape;190;p36">
            <a:extLst xmlns:a="http://schemas.openxmlformats.org/drawingml/2006/main">
              <a:ext uri="{FF2B5EF4-FFF2-40B4-BE49-F238E27FC236}">
                <a16:creationId xmlns:a16="http://schemas.microsoft.com/office/drawing/2014/main" id="{19AF57B1-7ADE-40FB-A5F1-D5E307AC6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129" y="6703219"/>
            <a:ext cx="15008700" cy="6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85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1" name="Google Shape;191;p36">
            <a:extLst xmlns:a="http://schemas.openxmlformats.org/drawingml/2006/main">
              <a:ext uri="{FF2B5EF4-FFF2-40B4-BE49-F238E27FC236}">
                <a16:creationId xmlns:a16="http://schemas.microsoft.com/office/drawing/2014/main" id="{DF37CE72-29A3-40D4-BEC8-AA503EA7E6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556784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4593958"/>
      </p:ext>
    </p:extLst>
  </p:cSld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2026-09-23T01:35:49.1970000Z</dcterms:created>
  <dcterms:modified xsi:type="dcterms:W3CDTF">2026-09-23T01:35:49.1970000Z</dcterms:modified>
</coreProperties>
</file>